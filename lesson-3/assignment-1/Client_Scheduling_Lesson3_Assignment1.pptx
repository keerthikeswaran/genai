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1" r:id="rId9"/>
  </p:sldIdLst>
  <p:sldSz cx="12192000" cy="6858000"/>
  <p:notesSz cx="6858000" cy="12192000"/>
  <p:embeddedFontLst>
    <p:embeddedFont>
      <p:font typeface="Sora Light" panose="020B0604020202020204" charset="0"/>
      <p:regular r:id="rId11"/>
    </p:embeddedFont>
    <p:embeddedFont>
      <p:font typeface="Sora Semi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139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B6214-EEE6-0669-EF11-8DC62235B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BD3A9D-AE13-7496-DDCC-2D6D264E3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D8E35A-EB07-69BD-C6F1-AD31819D5B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0E678-4812-910B-63F7-53C52CFB64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09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56D7F-FDD0-5AFB-154D-A244D3F09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E64B09-9E9D-FF9C-C3F6-24761C384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329D13-3BB5-0890-CA43-78AEB6491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BA004-6416-4BBB-7438-8713BD5484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761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866205"/>
            <a:ext cx="11275830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GenAI Builder Path: Lesson-3, Assignment-1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2532261"/>
            <a:ext cx="8238919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Automating Client Scheduling: 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31908" y="3198316"/>
            <a:ext cx="597103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Workflow vs. AI Agent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31908" y="4063008"/>
            <a:ext cx="11537463" cy="361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Designing structured automation and dynamic AI systems side-by-side.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31908" y="4694932"/>
            <a:ext cx="310933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By: KeerthiKeswaran</a:t>
            </a:r>
            <a:endParaRPr lang="en-US" sz="18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402060-18CB-0DF0-B5E4-746D652851D1}"/>
              </a:ext>
            </a:extLst>
          </p:cNvPr>
          <p:cNvSpPr/>
          <p:nvPr/>
        </p:nvSpPr>
        <p:spPr>
          <a:xfrm>
            <a:off x="10820400" y="6421120"/>
            <a:ext cx="1371600" cy="436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69037" y="1786930"/>
            <a:ext cx="6453621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Goal &amp; The Scenario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2741910"/>
            <a:ext cx="10927878" cy="780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55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Process: Automating what happens after a client submits an interest form.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Steps to Solve: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1908" y="3725962"/>
            <a:ext cx="10927878" cy="1345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Save contact details in a Google Sheet.</a:t>
            </a:r>
            <a:endParaRPr lang="en-US" sz="14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Check if the client wants to schedule a meeting.</a:t>
            </a:r>
            <a:endParaRPr lang="en-US" sz="14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Verify calendar availability.</a:t>
            </a:r>
            <a:endParaRPr lang="en-US" sz="14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Send a customized response email (with or without a meeting link).</a:t>
            </a:r>
            <a:endParaRPr lang="en-US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E20B43-0E0D-FBF5-5758-8DEEA0AC5780}"/>
              </a:ext>
            </a:extLst>
          </p:cNvPr>
          <p:cNvSpPr/>
          <p:nvPr/>
        </p:nvSpPr>
        <p:spPr>
          <a:xfrm>
            <a:off x="10820400" y="6421120"/>
            <a:ext cx="1371600" cy="436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164" y="539651"/>
            <a:ext cx="7062710" cy="1055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Standard, Rule-Based Automation</a:t>
            </a:r>
            <a:br>
              <a:rPr lang="en-US" sz="2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</a:br>
            <a:r>
              <a:rPr lang="en-US" sz="2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Workflow Diagram</a:t>
            </a:r>
          </a:p>
        </p:txBody>
      </p:sp>
      <p:sp>
        <p:nvSpPr>
          <p:cNvPr id="14" name="Shape 7"/>
          <p:cNvSpPr/>
          <p:nvPr/>
        </p:nvSpPr>
        <p:spPr>
          <a:xfrm>
            <a:off x="612164" y="4308456"/>
            <a:ext cx="10967366" cy="943173"/>
          </a:xfrm>
          <a:prstGeom prst="roundRect">
            <a:avLst>
              <a:gd name="adj" fmla="val 7789"/>
            </a:avLst>
          </a:prstGeom>
          <a:solidFill>
            <a:srgbClr val="FCF2B5"/>
          </a:solidFill>
          <a:ln/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983" y="4558090"/>
            <a:ext cx="218573" cy="17482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80376" y="4504611"/>
            <a:ext cx="10224336" cy="550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Limitation: It is rigid. If a user types "next Monday around lunch" instead of a specific date (like 2026-06-15), the system cannot understand it and fails.</a:t>
            </a:r>
            <a:endParaRPr lang="en-US" sz="13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785553B-0761-AAEF-8571-E437B069A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52921"/>
            <a:ext cx="12192000" cy="1814215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FC09C5B-C412-4072-6009-B7EE9CB255AF}"/>
              </a:ext>
            </a:extLst>
          </p:cNvPr>
          <p:cNvSpPr/>
          <p:nvPr/>
        </p:nvSpPr>
        <p:spPr>
          <a:xfrm>
            <a:off x="10820400" y="6421120"/>
            <a:ext cx="1371600" cy="436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63F2F-2B1A-6686-B696-9DDF0A415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DF87F7B-B78C-E35B-D30E-7CBD4AE7EAD7}"/>
              </a:ext>
            </a:extLst>
          </p:cNvPr>
          <p:cNvSpPr/>
          <p:nvPr/>
        </p:nvSpPr>
        <p:spPr>
          <a:xfrm>
            <a:off x="612164" y="539651"/>
            <a:ext cx="7062710" cy="460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Standard, Rule-Based Automation</a:t>
            </a:r>
            <a:endParaRPr lang="en-US" sz="2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6F145A-B2FB-DE35-9BC1-39D8FE7FF58E}"/>
              </a:ext>
            </a:extLst>
          </p:cNvPr>
          <p:cNvSpPr/>
          <p:nvPr/>
        </p:nvSpPr>
        <p:spPr>
          <a:xfrm>
            <a:off x="612164" y="1338659"/>
            <a:ext cx="11576951" cy="275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How it Works (Fixed Steps):</a:t>
            </a:r>
            <a:endParaRPr lang="en-US" sz="135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C02A1F9-A9DC-D821-F354-434DEC4FF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64" y="1804690"/>
            <a:ext cx="3655723" cy="699591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531B6A3A-F77A-F256-05FA-6C650A596593}"/>
              </a:ext>
            </a:extLst>
          </p:cNvPr>
          <p:cNvSpPr/>
          <p:nvPr/>
        </p:nvSpPr>
        <p:spPr>
          <a:xfrm>
            <a:off x="786983" y="2673648"/>
            <a:ext cx="3306084" cy="275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Step 1: Form is submitted.</a:t>
            </a:r>
            <a:endParaRPr lang="en-US" sz="135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58DE82BE-9C15-9A97-472E-2144A43C0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887" y="1804690"/>
            <a:ext cx="3655822" cy="699591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B48578C7-7BE4-1C0E-833B-8D5ACCCC971B}"/>
              </a:ext>
            </a:extLst>
          </p:cNvPr>
          <p:cNvSpPr/>
          <p:nvPr/>
        </p:nvSpPr>
        <p:spPr>
          <a:xfrm>
            <a:off x="4442706" y="2673648"/>
            <a:ext cx="3306184" cy="550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Step 2: Details are saved to Google Sheets.</a:t>
            </a:r>
            <a:endParaRPr lang="en-US" sz="1350" dirty="0"/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A6BEDC13-1DAE-9B32-7D96-E1AA55A030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3709" y="1804690"/>
            <a:ext cx="3655822" cy="699591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C5266B87-DFBD-8A7B-72BB-E13BDAE42A60}"/>
              </a:ext>
            </a:extLst>
          </p:cNvPr>
          <p:cNvSpPr/>
          <p:nvPr/>
        </p:nvSpPr>
        <p:spPr>
          <a:xfrm>
            <a:off x="8098528" y="2673648"/>
            <a:ext cx="3306184" cy="550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Step 3: A strict logic gate checks: Did they select "Yes" or "No"?</a:t>
            </a:r>
            <a:endParaRPr lang="en-US" sz="1350" dirty="0"/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33858279-3416-7643-2E9E-AA87C008B2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164" y="3399334"/>
            <a:ext cx="3655723" cy="699591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DB4A6236-7CA9-9187-1F6C-345348CD8157}"/>
              </a:ext>
            </a:extLst>
          </p:cNvPr>
          <p:cNvSpPr/>
          <p:nvPr/>
        </p:nvSpPr>
        <p:spPr>
          <a:xfrm>
            <a:off x="786983" y="4268291"/>
            <a:ext cx="3306084" cy="550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Step 4: Check calendar for the exact date and time.</a:t>
            </a:r>
            <a:endParaRPr lang="en-US" sz="1350" dirty="0"/>
          </a:p>
        </p:txBody>
      </p:sp>
      <p:pic>
        <p:nvPicPr>
          <p:cNvPr id="12" name="Image 4" descr="preencoded.png">
            <a:extLst>
              <a:ext uri="{FF2B5EF4-FFF2-40B4-BE49-F238E27FC236}">
                <a16:creationId xmlns:a16="http://schemas.microsoft.com/office/drawing/2014/main" id="{02ED93D3-9A41-16E8-7913-6732A38B2C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887" y="3399334"/>
            <a:ext cx="3655822" cy="699591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281E9916-7A08-5C2C-D2EE-63274B8670D5}"/>
              </a:ext>
            </a:extLst>
          </p:cNvPr>
          <p:cNvSpPr/>
          <p:nvPr/>
        </p:nvSpPr>
        <p:spPr>
          <a:xfrm>
            <a:off x="4442706" y="4268291"/>
            <a:ext cx="3306184" cy="550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Step 5: Send a pre-written email template.</a:t>
            </a:r>
            <a:endParaRPr lang="en-US" sz="1350" dirty="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64AA142B-BC1B-FA4D-A967-8A68447BD5CC}"/>
              </a:ext>
            </a:extLst>
          </p:cNvPr>
          <p:cNvSpPr/>
          <p:nvPr/>
        </p:nvSpPr>
        <p:spPr>
          <a:xfrm>
            <a:off x="612164" y="5184577"/>
            <a:ext cx="10967366" cy="943173"/>
          </a:xfrm>
          <a:prstGeom prst="roundRect">
            <a:avLst>
              <a:gd name="adj" fmla="val 7789"/>
            </a:avLst>
          </a:prstGeom>
          <a:solidFill>
            <a:srgbClr val="FCF2B5"/>
          </a:solidFill>
          <a:ln/>
        </p:spPr>
      </p:sp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F22E0D63-B630-C09F-04FA-6E3F1614E7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983" y="5434211"/>
            <a:ext cx="218573" cy="174823"/>
          </a:xfrm>
          <a:prstGeom prst="rect">
            <a:avLst/>
          </a:prstGeom>
        </p:spPr>
      </p:pic>
      <p:sp>
        <p:nvSpPr>
          <p:cNvPr id="16" name="Text 8">
            <a:extLst>
              <a:ext uri="{FF2B5EF4-FFF2-40B4-BE49-F238E27FC236}">
                <a16:creationId xmlns:a16="http://schemas.microsoft.com/office/drawing/2014/main" id="{BB5E9414-8403-87CE-477F-18F079361C74}"/>
              </a:ext>
            </a:extLst>
          </p:cNvPr>
          <p:cNvSpPr/>
          <p:nvPr/>
        </p:nvSpPr>
        <p:spPr>
          <a:xfrm>
            <a:off x="1180376" y="5380732"/>
            <a:ext cx="10224336" cy="550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Limitation: It is rigid. If a user types "next Monday around lunch" instead of a specific date (like 2026-06-15), the system cannot understand it and fails.</a:t>
            </a:r>
            <a:endParaRPr lang="en-US" sz="13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7B3980-1563-FCA8-0FB0-93BA86D41B01}"/>
              </a:ext>
            </a:extLst>
          </p:cNvPr>
          <p:cNvSpPr/>
          <p:nvPr/>
        </p:nvSpPr>
        <p:spPr>
          <a:xfrm>
            <a:off x="10820400" y="6421120"/>
            <a:ext cx="1371600" cy="436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477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7CD24-EAFF-344B-7FC8-7D3F2E3C1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FD834AC-6F23-EA6A-EF40-306445259393}"/>
              </a:ext>
            </a:extLst>
          </p:cNvPr>
          <p:cNvSpPr/>
          <p:nvPr/>
        </p:nvSpPr>
        <p:spPr>
          <a:xfrm>
            <a:off x="1034330" y="1076127"/>
            <a:ext cx="10122937" cy="1118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AI-Driven, Decision-Based Automation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cs typeface="Sora SemiBold" pitchFamily="34" charset="-120"/>
              </a:rPr>
              <a:t>Workflow Diagram</a:t>
            </a:r>
            <a:endParaRPr lang="en-US" sz="3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7B630C2-198B-D1C4-2041-1F997DB480AE}"/>
              </a:ext>
            </a:extLst>
          </p:cNvPr>
          <p:cNvSpPr/>
          <p:nvPr/>
        </p:nvSpPr>
        <p:spPr>
          <a:xfrm>
            <a:off x="631908" y="4585990"/>
            <a:ext cx="10927878" cy="992783"/>
          </a:xfrm>
          <a:prstGeom prst="roundRect">
            <a:avLst>
              <a:gd name="adj" fmla="val 7638"/>
            </a:avLst>
          </a:prstGeom>
          <a:solidFill>
            <a:srgbClr val="B6FCB8"/>
          </a:solidFill>
          <a:ln/>
        </p:spPr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15001221-B9C3-6D96-06AA-35C73BFBC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83" y="4844058"/>
            <a:ext cx="225618" cy="180479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7FDDFD3B-60D4-F84D-E1EE-E3C27A85F466}"/>
              </a:ext>
            </a:extLst>
          </p:cNvPr>
          <p:cNvSpPr/>
          <p:nvPr/>
        </p:nvSpPr>
        <p:spPr>
          <a:xfrm>
            <a:off x="1218475" y="4793456"/>
            <a:ext cx="10160837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Benefit: Highly flexible. It understands messy formatting, answers client questions directly in the email, and handles complex situations.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F7CB8A-62A1-0A73-0D27-3FD5FD542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04207"/>
            <a:ext cx="12192000" cy="14495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06F1B45-D1C4-6A9C-625C-ED7A225B9706}"/>
              </a:ext>
            </a:extLst>
          </p:cNvPr>
          <p:cNvSpPr/>
          <p:nvPr/>
        </p:nvSpPr>
        <p:spPr>
          <a:xfrm>
            <a:off x="10820400" y="6421120"/>
            <a:ext cx="1371600" cy="436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077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4330" y="1076127"/>
            <a:ext cx="10122937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AI-Driven, Decision-Based Automation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2031107"/>
            <a:ext cx="1153746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How it Works (Reasoning &amp; Tools):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1908" y="2523133"/>
            <a:ext cx="10927878" cy="185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Form details sent to Smart AI Agent. The system intelligently routes incoming client interest forms to a sophisticated AI agent for processing.</a:t>
            </a:r>
            <a:endParaRPr lang="en-US" sz="1400" dirty="0"/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AI interprets client message. The AI agent employs natural language processing to understand the client's request, even with informal phrasing like "I'd love to chat next Tuesday afternoon."</a:t>
            </a:r>
            <a:endParaRPr lang="en-US" sz="1400" dirty="0"/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AI selects and utilizes appropriate tools. It uses a Calendar tool to check Tuesday afternoon. It uses a Sheets tool to log the status. It uses an Email tool to write a personalized response.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1908" y="4585990"/>
            <a:ext cx="10927878" cy="992783"/>
          </a:xfrm>
          <a:prstGeom prst="roundRect">
            <a:avLst>
              <a:gd name="adj" fmla="val 7638"/>
            </a:avLst>
          </a:prstGeom>
          <a:solidFill>
            <a:srgbClr val="B6FCB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83" y="4844058"/>
            <a:ext cx="225618" cy="18047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8475" y="4793456"/>
            <a:ext cx="10160837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Benefit: Highly flexible. It understands messy formatting, answers client questions directly in the email, and handles complex situations.</a:t>
            </a:r>
            <a:endParaRPr lang="en-US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81741F-3C62-AEB5-195A-442AB2380390}"/>
              </a:ext>
            </a:extLst>
          </p:cNvPr>
          <p:cNvSpPr/>
          <p:nvPr/>
        </p:nvSpPr>
        <p:spPr>
          <a:xfrm>
            <a:off x="10820400" y="6421120"/>
            <a:ext cx="1371600" cy="436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5421" y="1963638"/>
            <a:ext cx="5360754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Workflow vs. Agent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3008809"/>
            <a:ext cx="298512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Workflow: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31908" y="3486150"/>
            <a:ext cx="5243679" cy="1345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Follows a fixed path.</a:t>
            </a:r>
            <a:endParaRPr lang="en-US" sz="14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Runs fast and costs almost nothing.</a:t>
            </a:r>
            <a:endParaRPr lang="en-US" sz="14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100% predictable behavior.</a:t>
            </a:r>
            <a:endParaRPr lang="en-US" sz="14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Fails on messy or unexpected inputs.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22457" y="3008809"/>
            <a:ext cx="298512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Agent: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22457" y="3486150"/>
            <a:ext cx="5243679" cy="1345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Decides its own path on the fly.</a:t>
            </a:r>
            <a:endParaRPr lang="en-US" sz="14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Takes slightly longer (LLM processing time).</a:t>
            </a:r>
            <a:endParaRPr lang="en-US" sz="14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Flexible and handles human conversation.</a:t>
            </a:r>
            <a:endParaRPr lang="en-US" sz="14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Requires testing to ensure the AI behaves correctly.</a:t>
            </a:r>
            <a:endParaRPr lang="en-US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1F7B17-25BA-C733-7B00-1C6149D4742C}"/>
              </a:ext>
            </a:extLst>
          </p:cNvPr>
          <p:cNvSpPr/>
          <p:nvPr/>
        </p:nvSpPr>
        <p:spPr>
          <a:xfrm>
            <a:off x="10820400" y="6421120"/>
            <a:ext cx="1371600" cy="436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4675" y="1872754"/>
            <a:ext cx="5602346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When to Use Which?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2899866"/>
            <a:ext cx="585326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 a Workflow when: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1908" y="3351213"/>
            <a:ext cx="5243679" cy="1281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Inputs are standard (e.g., dropdowns, date pickers).</a:t>
            </a:r>
            <a:endParaRPr lang="en-US" sz="14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You need a 100% guarantee that the steps run exactly the same way every time.</a:t>
            </a:r>
            <a:endParaRPr lang="en-US" sz="14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There is no writing/reading of open text required.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22457" y="2899866"/>
            <a:ext cx="585326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 an Agent when: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22457" y="3351213"/>
            <a:ext cx="5243679" cy="1570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inputs are open text or conversational.</a:t>
            </a:r>
            <a:endParaRPr lang="en-US" sz="14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system needs to answer unique questions or handle varying requests.</a:t>
            </a:r>
            <a:endParaRPr lang="en-US" sz="14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You want the responses to feel personal and human-written.</a:t>
            </a:r>
            <a:endParaRPr lang="en-US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6AAF3C-8721-0875-6B1F-D275259FE6B5}"/>
              </a:ext>
            </a:extLst>
          </p:cNvPr>
          <p:cNvSpPr/>
          <p:nvPr/>
        </p:nvSpPr>
        <p:spPr>
          <a:xfrm>
            <a:off x="10820400" y="6421120"/>
            <a:ext cx="1371600" cy="436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543</Words>
  <Application>Microsoft Office PowerPoint</Application>
  <PresentationFormat>Widescreen</PresentationFormat>
  <Paragraphs>59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Sora SemiBold</vt:lpstr>
      <vt:lpstr>Arial</vt:lpstr>
      <vt:lpstr>Sora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KeerthiKeswaran K S</cp:lastModifiedBy>
  <cp:revision>2</cp:revision>
  <dcterms:created xsi:type="dcterms:W3CDTF">2026-06-07T17:11:47Z</dcterms:created>
  <dcterms:modified xsi:type="dcterms:W3CDTF">2026-06-07T17:27:33Z</dcterms:modified>
</cp:coreProperties>
</file>